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" charset="1" panose="000005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91331" y="3270172"/>
            <a:ext cx="8015383" cy="263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9"/>
              </a:lnSpc>
              <a:spcBef>
                <a:spcPct val="0"/>
              </a:spcBef>
            </a:pPr>
            <a:r>
              <a:rPr lang="en-US" sz="735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Serverless Email Sending with SES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927123" y="3143201"/>
            <a:ext cx="9146584" cy="5246370"/>
            <a:chOff x="0" y="0"/>
            <a:chExt cx="7981950" cy="457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3720" t="0" r="-372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622878" y="1563286"/>
            <a:ext cx="1536908" cy="864511"/>
          </a:xfrm>
          <a:custGeom>
            <a:avLst/>
            <a:gdLst/>
            <a:ahLst/>
            <a:cxnLst/>
            <a:rect r="r" b="b" t="t" l="l"/>
            <a:pathLst>
              <a:path h="864511" w="1536908">
                <a:moveTo>
                  <a:pt x="0" y="0"/>
                </a:moveTo>
                <a:lnTo>
                  <a:pt x="1536907" y="0"/>
                </a:lnTo>
                <a:lnTo>
                  <a:pt x="1536907" y="864510"/>
                </a:lnTo>
                <a:lnTo>
                  <a:pt x="0" y="864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356712" y="1514784"/>
            <a:ext cx="2717651" cy="91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b="true" sz="2586" spc="-51">
                <a:solidFill>
                  <a:srgbClr val="5B98BA"/>
                </a:solidFill>
                <a:latin typeface="Poppins Bold"/>
                <a:ea typeface="Poppins Bold"/>
                <a:cs typeface="Poppins Bold"/>
                <a:sym typeface="Poppins Bold"/>
              </a:rPr>
              <a:t>AWS WORKSHOP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331" y="6631448"/>
            <a:ext cx="7366063" cy="50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By: Nguyễn Quốc Cường - 2180607345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4090" cy="2932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67766" y="-1614217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838967" y="1285094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838967" y="1910601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838967" y="2535838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838967" y="3161344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838967" y="3786581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838967" y="4412088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838967" y="5037325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838967" y="5662832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838967" y="6345219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99600" y="1923559"/>
            <a:ext cx="7941693" cy="7303629"/>
          </a:xfrm>
          <a:custGeom>
            <a:avLst/>
            <a:gdLst/>
            <a:ahLst/>
            <a:cxnLst/>
            <a:rect r="r" b="b" t="t" l="l"/>
            <a:pathLst>
              <a:path h="7303629" w="7941693">
                <a:moveTo>
                  <a:pt x="0" y="0"/>
                </a:moveTo>
                <a:lnTo>
                  <a:pt x="7941693" y="0"/>
                </a:lnTo>
                <a:lnTo>
                  <a:pt x="7941693" y="7303629"/>
                </a:lnTo>
                <a:lnTo>
                  <a:pt x="0" y="7303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2" t="0" r="-762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621244" y="-209550"/>
            <a:ext cx="6760246" cy="131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b="true" sz="732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Mục lục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93305" y="1184619"/>
            <a:ext cx="3773019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Tóm tắt dự án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14207" y="1184619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93305" y="1810126"/>
            <a:ext cx="414302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Tính năng và lợi ích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4207" y="1810126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93305" y="2435363"/>
            <a:ext cx="4652520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Đầu tư và Lợi tích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14207" y="2435363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93305" y="3060870"/>
            <a:ext cx="4883427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Vấn đề thực tế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14207" y="3060870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3305" y="3710872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Thách thức &amp; Tác động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14207" y="3686107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93305" y="4311613"/>
            <a:ext cx="4883427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Sơ đồ kiến trúc tổng quan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14207" y="4311613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93305" y="4936850"/>
            <a:ext cx="5150414" cy="50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Các dịch vụ AWS sử dụng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14207" y="4936850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93305" y="5562357"/>
            <a:ext cx="5720902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Bảo mật và khả năng mở rộng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14207" y="5562357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93305" y="6244744"/>
            <a:ext cx="439777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Các giai đoạn triển khai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14207" y="6244744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5400000">
            <a:off x="1838967" y="7027606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2593305" y="6927131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Chiến lược testing &amp; triển khai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14207" y="6927131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5400000">
            <a:off x="1838967" y="765284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593305" y="7552368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Demo Frontend Integration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314207" y="7552368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5400000">
            <a:off x="1838967" y="8335230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593305" y="8234756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Ước tính chi phí &amp; ROI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14207" y="8234756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5400000">
            <a:off x="1838967" y="9036667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593305" y="8936193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Rủi ro &amp; Giải pháp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314207" y="8936193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5400000">
            <a:off x="1838967" y="9671429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593305" y="9570955"/>
            <a:ext cx="5150414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Kết quả kì vọng &amp; Giá trị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314207" y="9570955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143500"/>
          </a:xfrm>
          <a:custGeom>
            <a:avLst/>
            <a:gdLst/>
            <a:ahLst/>
            <a:cxnLst/>
            <a:rect r="r" b="b" t="t" l="l"/>
            <a:pathLst>
              <a:path h="5143500" w="182880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406" r="0" b="-644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8217" y="9258300"/>
            <a:ext cx="18476217" cy="1028700"/>
            <a:chOff x="0" y="0"/>
            <a:chExt cx="4866164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66164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7558" y="3008268"/>
            <a:ext cx="11552885" cy="6017804"/>
            <a:chOff x="0" y="0"/>
            <a:chExt cx="3042735" cy="1584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2735" cy="1584936"/>
            </a:xfrm>
            <a:custGeom>
              <a:avLst/>
              <a:gdLst/>
              <a:ahLst/>
              <a:cxnLst/>
              <a:rect r="r" b="b" t="t" l="l"/>
              <a:pathLst>
                <a:path h="1584936" w="3042735">
                  <a:moveTo>
                    <a:pt x="0" y="0"/>
                  </a:moveTo>
                  <a:lnTo>
                    <a:pt x="3042735" y="0"/>
                  </a:lnTo>
                  <a:lnTo>
                    <a:pt x="3042735" y="1584936"/>
                  </a:lnTo>
                  <a:lnTo>
                    <a:pt x="0" y="1584936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042735" cy="164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84182" y="3225251"/>
            <a:ext cx="7315669" cy="105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5"/>
              </a:lnSpc>
              <a:spcBef>
                <a:spcPct val="0"/>
              </a:spcBef>
            </a:pPr>
            <a:r>
              <a:rPr lang="en-US" b="true" sz="5854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Tóm tắt dự 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6755" y="4891114"/>
            <a:ext cx="10494490" cy="328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Mụ</a:t>
            </a: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 tiêu: Xây dựng API gửi email thông báo tự động bằng AWS.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Giải pháp: Frontend ➔ API Gateway ➔ Lambda ➔ SES ➔ Hộp thư người nhận.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 Lợi ích cho doanh nghiệp:</a:t>
            </a:r>
          </a:p>
          <a:p>
            <a:pPr algn="just" marL="507122" indent="-253561" lvl="1">
              <a:lnSpc>
                <a:spcPts val="3288"/>
              </a:lnSpc>
              <a:spcBef>
                <a:spcPct val="0"/>
              </a:spcBef>
              <a:buFont typeface="Arial"/>
              <a:buChar char="•"/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Giảm chi phí vận hành</a:t>
            </a:r>
          </a:p>
          <a:p>
            <a:pPr algn="just" marL="507122" indent="-253561" lvl="1">
              <a:lnSpc>
                <a:spcPts val="3288"/>
              </a:lnSpc>
              <a:spcBef>
                <a:spcPct val="0"/>
              </a:spcBef>
              <a:buFont typeface="Arial"/>
              <a:buChar char="•"/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Không</a:t>
            </a: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cần quản lý server</a:t>
            </a:r>
          </a:p>
          <a:p>
            <a:pPr algn="just" marL="507122" indent="-253561" lvl="1">
              <a:lnSpc>
                <a:spcPts val="3288"/>
              </a:lnSpc>
              <a:spcBef>
                <a:spcPct val="0"/>
              </a:spcBef>
              <a:buFont typeface="Arial"/>
              <a:buChar char="•"/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Khả</a:t>
            </a: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năng mở rộng và độ tin cậy cao</a:t>
            </a:r>
          </a:p>
          <a:p>
            <a:pPr algn="ctr">
              <a:lnSpc>
                <a:spcPts val="32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9603" y="1122782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9850"/>
              <a:ext cx="660400" cy="92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14313" y="1459818"/>
            <a:ext cx="6270276" cy="6270276"/>
            <a:chOff x="0" y="0"/>
            <a:chExt cx="8916670" cy="8916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8611" y="2279848"/>
            <a:ext cx="9408160" cy="792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API</a:t>
            </a: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REST gửi email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Cho phép hệ thống frontend hoặc ứng dụng bên ngoài gọi API để gửi email mà không cần SMTP server riêng.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Tích hợp frontend demo đơn giản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Cung cấp file web.html với form nhập email, subject, message ➔ test trực tiếp API Gateway ➔ Lambda ➔ SES.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Monitoring &amp; Logging bằng CloudWatch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Ghi lại log hoạt động của Lambda Function giúp dễ dàng debug, kiểm tra event input/output và theo dõi lỗi.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</a:t>
            </a: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Thiết lập Alarm giám sát lỗi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Kịp thời nhận biết khi function bị lỗi hoặc gửi email thất bại, đảm bảo tính ổn định của hệ thống.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Chi phí thấp (~5 USD/tháng)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 với chi phí SMTP server riêng hoặc dịch vụ như SendGrid, giải pháp này tiết kiệm hơn rất nhiều.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✔️ Tự động mở rộng, không cần hạ tầng phức tạp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Với kiến trúc serverless, Lambda và SES tự động scale theo lượng request mà không cần cấu hình EC2 hay server vật lý.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001991" y="554457"/>
            <a:ext cx="680478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Tính năng &amp; Lợi ích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206220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4416433"/>
            <a:ext cx="12164941" cy="3035960"/>
            <a:chOff x="0" y="0"/>
            <a:chExt cx="3203935" cy="7995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799594"/>
            </a:xfrm>
            <a:custGeom>
              <a:avLst/>
              <a:gdLst/>
              <a:ahLst/>
              <a:cxnLst/>
              <a:rect r="r" b="b" t="t" l="l"/>
              <a:pathLst>
                <a:path h="799594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799594"/>
                  </a:lnTo>
                  <a:lnTo>
                    <a:pt x="0" y="799594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3935" cy="856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Thời gian phát triển: ~2 tuần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Chi phí hàng tháng: ~5 USD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ROI: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Tiết kiệm so với SMTP server (~15-30 USD/tháng)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Triển khai nhanh chóng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Dễ bảo trì, dễ mở rộng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3115479"/>
            <a:ext cx="1162244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ĐẦU TƯ &amp; LỢI TỨC (ROI)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80213" y="-8767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t="0" r="-19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5494" y="2031508"/>
            <a:ext cx="15667717" cy="5088907"/>
            <a:chOff x="0" y="0"/>
            <a:chExt cx="4126477" cy="1340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6477" cy="1340288"/>
            </a:xfrm>
            <a:custGeom>
              <a:avLst/>
              <a:gdLst/>
              <a:ahLst/>
              <a:cxnLst/>
              <a:rect r="r" b="b" t="t" l="l"/>
              <a:pathLst>
                <a:path h="1340288" w="4126477">
                  <a:moveTo>
                    <a:pt x="8400" y="0"/>
                  </a:moveTo>
                  <a:lnTo>
                    <a:pt x="4118077" y="0"/>
                  </a:lnTo>
                  <a:cubicBezTo>
                    <a:pt x="4120305" y="0"/>
                    <a:pt x="4122441" y="885"/>
                    <a:pt x="4124017" y="2460"/>
                  </a:cubicBezTo>
                  <a:cubicBezTo>
                    <a:pt x="4125592" y="4036"/>
                    <a:pt x="4126477" y="6172"/>
                    <a:pt x="4126477" y="8400"/>
                  </a:cubicBezTo>
                  <a:lnTo>
                    <a:pt x="4126477" y="1331888"/>
                  </a:lnTo>
                  <a:cubicBezTo>
                    <a:pt x="4126477" y="1334116"/>
                    <a:pt x="4125592" y="1336253"/>
                    <a:pt x="4124017" y="1337828"/>
                  </a:cubicBezTo>
                  <a:cubicBezTo>
                    <a:pt x="4122441" y="1339403"/>
                    <a:pt x="4120305" y="1340288"/>
                    <a:pt x="4118077" y="1340288"/>
                  </a:cubicBezTo>
                  <a:lnTo>
                    <a:pt x="8400" y="1340288"/>
                  </a:lnTo>
                  <a:cubicBezTo>
                    <a:pt x="6172" y="1340288"/>
                    <a:pt x="4036" y="1339403"/>
                    <a:pt x="2460" y="1337828"/>
                  </a:cubicBezTo>
                  <a:cubicBezTo>
                    <a:pt x="885" y="1336253"/>
                    <a:pt x="0" y="1334116"/>
                    <a:pt x="0" y="1331888"/>
                  </a:cubicBezTo>
                  <a:lnTo>
                    <a:pt x="0" y="8400"/>
                  </a:lnTo>
                  <a:cubicBezTo>
                    <a:pt x="0" y="6172"/>
                    <a:pt x="885" y="4036"/>
                    <a:pt x="2460" y="2460"/>
                  </a:cubicBezTo>
                  <a:cubicBezTo>
                    <a:pt x="4036" y="885"/>
                    <a:pt x="6172" y="0"/>
                    <a:pt x="84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126477" cy="139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5443077" y="2648415"/>
            <a:ext cx="0" cy="441034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19646" y="2572215"/>
            <a:ext cx="4447206" cy="95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 spc="-54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13" spc="-54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iện trạng của doanh nghiệp: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1340443" y="2580755"/>
            <a:ext cx="0" cy="441034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36139" y="355348"/>
            <a:ext cx="8822348" cy="105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Vấn đề thực tế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1612" y="3808665"/>
            <a:ext cx="4961465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Mỗi ngày, các hệ thống website thương mại điện tử, ứng dụng mobile cần gửi số lượng lớn email: xác nhận đơn hàng, gửi OTP đăng nhập, thông báo khuyến mãi.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67940" y="3407608"/>
            <a:ext cx="5796278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Nhiều doanh nghiệp đang sử dụng SMTP server riêng trên EC2 ➔ Tốn chi phí duy trì server 24/7, cấu hình phức tạp.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Các dịch vụ bên thứ ba như SendGrid, Mailgun tính phí khá cao khi khối lượng email tăng.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317" y="3492016"/>
            <a:ext cx="357240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Giải pháp gửi email phải ổn định, nhanh chóng, chi phí thấp, dễ tích hợp với frontend hoặc backend hiện có.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53900" y="2606671"/>
            <a:ext cx="4696561" cy="4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 spc="-54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Khó</a:t>
            </a:r>
            <a:r>
              <a:rPr lang="en-US" sz="2713" spc="-54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khăn phổ biến hiện nay: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20810" y="2606671"/>
            <a:ext cx="4497884" cy="4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 spc="-54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Yêu</a:t>
            </a:r>
            <a:r>
              <a:rPr lang="en-US" sz="2713" spc="-54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cầu thực tế: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1612" y="7684398"/>
            <a:ext cx="12089148" cy="191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 spc="-5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Nhận định:</a:t>
            </a:r>
          </a:p>
          <a:p>
            <a:pPr algn="l">
              <a:lnSpc>
                <a:spcPts val="3798"/>
              </a:lnSpc>
            </a:pPr>
            <a:r>
              <a:rPr lang="en-US" sz="2713" spc="-5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Nếu không có giải pháp phù hợp, doanh ngh</a:t>
            </a:r>
            <a:r>
              <a:rPr lang="en-US" sz="2713" spc="-5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iệp sẽ gặp khó khăn trong việc duy trì trải nghiệm khách hàng tốt, dễ bị bỏ lỡ đơn hàng hoặc giảm tỷ lệ chuyển đổi.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17501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32030" y="1088016"/>
            <a:ext cx="862394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Thách thức &amp; Tác động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6774" y="4846123"/>
            <a:ext cx="7130127" cy="3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ail chậm hoặc không tới hộp thư ➔ Khách hàng nghi ngờ uy tín thương hiệu ➔ Mất niềm tin.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hi phí duy trì SMTP server riêng + nhân sự vận hành cao ➔ Giảm lợi nhuận.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Không có log và alert rõ ràng ➔ Khó phát hiện lỗi kịp thời ➔ Giảm hiệu suất kinh doanh.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616166" y="4049576"/>
            <a:ext cx="3407214" cy="3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Các thách thức chính: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53134" y="4049576"/>
            <a:ext cx="2877407" cy="3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Tác</a:t>
            </a:r>
            <a:r>
              <a:rPr lang="en-US" sz="228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động tiêu cực: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96215" y="4846123"/>
            <a:ext cx="6969860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Khó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đảm bảo tỷ lệ gửi email thành công (deliverability) cao nếu IP SMTP bị blacklist.</a:t>
            </a:r>
          </a:p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Khó scale khi có chiến dịch marketing cần gửi hàng chục nghìn email trong thời gian ngắn.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Đội ngũ kỹ thuật tốn thời gian bảo trì, monitor server, xử lý bounce email, spam report.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206220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3716777"/>
            <a:ext cx="11301259" cy="3913061"/>
          </a:xfrm>
          <a:custGeom>
            <a:avLst/>
            <a:gdLst/>
            <a:ahLst/>
            <a:cxnLst/>
            <a:rect r="r" b="b" t="t" l="l"/>
            <a:pathLst>
              <a:path h="3913061" w="11301259">
                <a:moveTo>
                  <a:pt x="0" y="0"/>
                </a:moveTo>
                <a:lnTo>
                  <a:pt x="11301258" y="0"/>
                </a:lnTo>
                <a:lnTo>
                  <a:pt x="11301258" y="3913060"/>
                </a:lnTo>
                <a:lnTo>
                  <a:pt x="0" y="3913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32775" y="2409069"/>
            <a:ext cx="1162244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SƠ ĐỒ KIẾN TRÚC TỔNG QUAN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22448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9132" y="1156129"/>
            <a:ext cx="946777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Các dịch vụ AWS </a:t>
            </a:r>
            <a:r>
              <a:rPr lang="en-US" b="true" sz="5499" strike="noStrike" u="non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sử dụng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28002" t="0" r="-5146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4175" y="8410948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57959" y="3076682"/>
            <a:ext cx="17636284" cy="6970990"/>
            <a:chOff x="0" y="0"/>
            <a:chExt cx="4644947" cy="18359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4947" cy="1835981"/>
            </a:xfrm>
            <a:custGeom>
              <a:avLst/>
              <a:gdLst/>
              <a:ahLst/>
              <a:cxnLst/>
              <a:rect r="r" b="b" t="t" l="l"/>
              <a:pathLst>
                <a:path h="1835981" w="4644947">
                  <a:moveTo>
                    <a:pt x="6146" y="0"/>
                  </a:moveTo>
                  <a:lnTo>
                    <a:pt x="4638801" y="0"/>
                  </a:lnTo>
                  <a:cubicBezTo>
                    <a:pt x="4640431" y="0"/>
                    <a:pt x="4641995" y="647"/>
                    <a:pt x="4643147" y="1800"/>
                  </a:cubicBezTo>
                  <a:cubicBezTo>
                    <a:pt x="4644299" y="2953"/>
                    <a:pt x="4644947" y="4516"/>
                    <a:pt x="4644947" y="6146"/>
                  </a:cubicBezTo>
                  <a:lnTo>
                    <a:pt x="4644947" y="1829835"/>
                  </a:lnTo>
                  <a:cubicBezTo>
                    <a:pt x="4644947" y="1833229"/>
                    <a:pt x="4642196" y="1835981"/>
                    <a:pt x="4638801" y="1835981"/>
                  </a:cubicBezTo>
                  <a:lnTo>
                    <a:pt x="6146" y="1835981"/>
                  </a:lnTo>
                  <a:cubicBezTo>
                    <a:pt x="2752" y="1835981"/>
                    <a:pt x="0" y="1833229"/>
                    <a:pt x="0" y="1829835"/>
                  </a:cubicBezTo>
                  <a:lnTo>
                    <a:pt x="0" y="6146"/>
                  </a:lnTo>
                  <a:cubicBezTo>
                    <a:pt x="0" y="2752"/>
                    <a:pt x="2752" y="0"/>
                    <a:pt x="6146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644947" cy="189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890113" y="5502514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858012" y="6562177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858012" y="7618120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890113" y="8896858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890113" y="4342214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442856" y="5640235"/>
            <a:ext cx="784221" cy="784221"/>
          </a:xfrm>
          <a:custGeom>
            <a:avLst/>
            <a:gdLst/>
            <a:ahLst/>
            <a:cxnLst/>
            <a:rect r="r" b="b" t="t" l="l"/>
            <a:pathLst>
              <a:path h="784221" w="784221">
                <a:moveTo>
                  <a:pt x="0" y="0"/>
                </a:moveTo>
                <a:lnTo>
                  <a:pt x="784222" y="0"/>
                </a:lnTo>
                <a:lnTo>
                  <a:pt x="784222" y="784222"/>
                </a:lnTo>
                <a:lnTo>
                  <a:pt x="0" y="784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95376" y="6686002"/>
            <a:ext cx="896465" cy="896465"/>
          </a:xfrm>
          <a:custGeom>
            <a:avLst/>
            <a:gdLst/>
            <a:ahLst/>
            <a:cxnLst/>
            <a:rect r="r" b="b" t="t" l="l"/>
            <a:pathLst>
              <a:path h="896465" w="896465">
                <a:moveTo>
                  <a:pt x="0" y="0"/>
                </a:moveTo>
                <a:lnTo>
                  <a:pt x="896465" y="0"/>
                </a:lnTo>
                <a:lnTo>
                  <a:pt x="896465" y="896466"/>
                </a:lnTo>
                <a:lnTo>
                  <a:pt x="0" y="896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42856" y="7793549"/>
            <a:ext cx="927880" cy="927880"/>
          </a:xfrm>
          <a:custGeom>
            <a:avLst/>
            <a:gdLst/>
            <a:ahLst/>
            <a:cxnLst/>
            <a:rect r="r" b="b" t="t" l="l"/>
            <a:pathLst>
              <a:path h="927880" w="927880">
                <a:moveTo>
                  <a:pt x="0" y="0"/>
                </a:moveTo>
                <a:lnTo>
                  <a:pt x="927880" y="0"/>
                </a:lnTo>
                <a:lnTo>
                  <a:pt x="927880" y="927880"/>
                </a:lnTo>
                <a:lnTo>
                  <a:pt x="0" y="9278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395376" y="9020683"/>
            <a:ext cx="926293" cy="926293"/>
          </a:xfrm>
          <a:custGeom>
            <a:avLst/>
            <a:gdLst/>
            <a:ahLst/>
            <a:cxnLst/>
            <a:rect r="r" b="b" t="t" l="l"/>
            <a:pathLst>
              <a:path h="926293" w="926293">
                <a:moveTo>
                  <a:pt x="0" y="0"/>
                </a:moveTo>
                <a:lnTo>
                  <a:pt x="926293" y="0"/>
                </a:lnTo>
                <a:lnTo>
                  <a:pt x="926293" y="926293"/>
                </a:lnTo>
                <a:lnTo>
                  <a:pt x="0" y="926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369136" y="4408359"/>
            <a:ext cx="922705" cy="922705"/>
          </a:xfrm>
          <a:custGeom>
            <a:avLst/>
            <a:gdLst/>
            <a:ahLst/>
            <a:cxnLst/>
            <a:rect r="r" b="b" t="t" l="l"/>
            <a:pathLst>
              <a:path h="922705" w="922705">
                <a:moveTo>
                  <a:pt x="0" y="0"/>
                </a:moveTo>
                <a:lnTo>
                  <a:pt x="922705" y="0"/>
                </a:lnTo>
                <a:lnTo>
                  <a:pt x="922705" y="922705"/>
                </a:lnTo>
                <a:lnTo>
                  <a:pt x="0" y="922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442856" y="3607205"/>
            <a:ext cx="94894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Icon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49216" y="3607205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Dịch vụ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75710" y="3607205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Mục đích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69088" y="3607205"/>
            <a:ext cx="1423993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Lợi ích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82475" y="4614301"/>
            <a:ext cx="94894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11067" y="5778739"/>
            <a:ext cx="136837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Lambda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49216" y="6822254"/>
            <a:ext cx="159827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Gateway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49216" y="7989595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Cloudwatch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82475" y="9182100"/>
            <a:ext cx="94894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IAM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75710" y="4614301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Gửi email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22755" y="5778739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Thực thi function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28665" y="6806292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REST endpoint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75710" y="7989595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Monitor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22755" y="9172898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Quản lý quyền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16071" y="4542239"/>
            <a:ext cx="3769216" cy="9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Chi phí thấp, độ tin cậy cao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16071" y="5778739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Serverless, auto scale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16071" y="6806292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Dễ tích hợp frontend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16071" y="7989595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Debug nhanh, alert lỗi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16071" y="9172898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Bảo mật chặt chẽ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17501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54321" cy="1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949600" y="1229505"/>
            <a:ext cx="1074168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Bảo mật &amp; Khả năng mở rộng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5759" y="4846123"/>
            <a:ext cx="7689066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Lambd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 Function: Tự động scale tới hàng nghìn concurrent requests mà không cần cấu hình thêm.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SES: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Hỗ trợ gửi email khối lượng lớn (bulk) hoặc transactional nhỏ lẻ đều ổn định.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API Gateway: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Scale theo lượng request mà không cần EC2 hay Load Balancer riêng.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594091" y="4040051"/>
            <a:ext cx="34072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Chiến lược bảo mật: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31059" y="4040051"/>
            <a:ext cx="28774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Khả</a:t>
            </a:r>
            <a:r>
              <a:rPr lang="en-US" sz="240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năng mở rộng: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7731" y="4846123"/>
            <a:ext cx="767626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IAM</a:t>
            </a: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Role tối ưu: Lambda chỉ có quyền cần thiết (SES:SendEmail, CloudWatch logs).</a:t>
            </a:r>
          </a:p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SES Verified Identity: Chỉ gửi mail từ email/domain đã verify ➔ Giảm spam, tăng uy tín.</a:t>
            </a:r>
          </a:p>
          <a:p>
            <a:pPr algn="ctr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API Gateway CORS: Cho phép frontend domain cụ thể gọi API ➔ Tránh public toàn bộ.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5495" y="4137712"/>
            <a:ext cx="6254116" cy="195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Các giai đoạn triển khai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392027" y="537649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9885921" y="388291"/>
            <a:ext cx="7622669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Chuẩn bị (Prerequisites)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Verify SES email/domain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Tạo IAM Role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537085" y="753711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15093" y="228948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785622" y="2232331"/>
            <a:ext cx="6143625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Tạo Lambda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Function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Viết code function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Deploy function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60151" y="2505543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361366" y="3915218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0934451" y="3774111"/>
            <a:ext cx="6148247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Tạ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o API Gateway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Tạ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o REST API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Enable CORS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506424" y="4131280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10210" y="565234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0820215" y="5715941"/>
            <a:ext cx="7357766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Tí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ch hợp Frontend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Tạo file web.html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Test end-to-end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255268" y="5868404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44547" y="1311802"/>
            <a:ext cx="373607" cy="373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18420" y="2818190"/>
            <a:ext cx="373607" cy="37360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15586" y="6001754"/>
            <a:ext cx="373607" cy="37360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78565" y="4440542"/>
            <a:ext cx="373607" cy="37360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18154" y="7864590"/>
            <a:ext cx="373607" cy="37360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803889" y="7305198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7" id="37"/>
          <p:cNvSpPr txBox="true"/>
          <p:nvPr/>
        </p:nvSpPr>
        <p:spPr>
          <a:xfrm rot="0">
            <a:off x="10785622" y="7410157"/>
            <a:ext cx="5768345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onitoring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CloudWatch Logs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CloudWatch Alarm (Optional)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8948947" y="7521260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157743" y="9071496"/>
            <a:ext cx="373607" cy="373607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8091761" y="876352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9885921" y="9180537"/>
            <a:ext cx="5768345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Cleanup: </a:t>
            </a:r>
            <a:r>
              <a:rPr lang="en-US" sz="2300" spc="-46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Xóa resource không dùng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8236819" y="8979583"/>
            <a:ext cx="1134140" cy="85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22448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013" y="1832688"/>
            <a:ext cx="11672655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Chiến lược Te</a:t>
            </a:r>
            <a:r>
              <a:rPr lang="en-US" b="true" sz="5400" strike="noStrike" u="non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sting &amp; Triển khai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28002" t="0" r="-5146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4175" y="8410948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65690" y="3965232"/>
            <a:ext cx="16258318" cy="5494612"/>
            <a:chOff x="0" y="0"/>
            <a:chExt cx="4282026" cy="14471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82026" cy="1447141"/>
            </a:xfrm>
            <a:custGeom>
              <a:avLst/>
              <a:gdLst/>
              <a:ahLst/>
              <a:cxnLst/>
              <a:rect r="r" b="b" t="t" l="l"/>
              <a:pathLst>
                <a:path h="1447141" w="4282026">
                  <a:moveTo>
                    <a:pt x="6667" y="0"/>
                  </a:moveTo>
                  <a:lnTo>
                    <a:pt x="4275359" y="0"/>
                  </a:lnTo>
                  <a:cubicBezTo>
                    <a:pt x="4279041" y="0"/>
                    <a:pt x="4282026" y="2985"/>
                    <a:pt x="4282026" y="6667"/>
                  </a:cubicBezTo>
                  <a:lnTo>
                    <a:pt x="4282026" y="1440474"/>
                  </a:lnTo>
                  <a:cubicBezTo>
                    <a:pt x="4282026" y="1444156"/>
                    <a:pt x="4279041" y="1447141"/>
                    <a:pt x="4275359" y="1447141"/>
                  </a:cubicBezTo>
                  <a:lnTo>
                    <a:pt x="6667" y="1447141"/>
                  </a:lnTo>
                  <a:cubicBezTo>
                    <a:pt x="2985" y="1447141"/>
                    <a:pt x="0" y="1444156"/>
                    <a:pt x="0" y="1440474"/>
                  </a:cubicBezTo>
                  <a:lnTo>
                    <a:pt x="0" y="6667"/>
                  </a:lnTo>
                  <a:cubicBezTo>
                    <a:pt x="0" y="2985"/>
                    <a:pt x="2985" y="0"/>
                    <a:pt x="6667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282026" cy="1504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40636" y="3636723"/>
            <a:ext cx="2772169" cy="685553"/>
            <a:chOff x="0" y="0"/>
            <a:chExt cx="1013291" cy="2505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57915" y="3636723"/>
            <a:ext cx="2772169" cy="685553"/>
            <a:chOff x="0" y="0"/>
            <a:chExt cx="1013291" cy="2505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Deployment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96339" y="3636723"/>
            <a:ext cx="2670160" cy="685553"/>
            <a:chOff x="0" y="0"/>
            <a:chExt cx="976004" cy="2505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6004" cy="250585"/>
            </a:xfrm>
            <a:custGeom>
              <a:avLst/>
              <a:gdLst/>
              <a:ahLst/>
              <a:cxnLst/>
              <a:rect r="r" b="b" t="t" l="l"/>
              <a:pathLst>
                <a:path h="250585" w="976004">
                  <a:moveTo>
                    <a:pt x="125293" y="0"/>
                  </a:moveTo>
                  <a:lnTo>
                    <a:pt x="850712" y="0"/>
                  </a:lnTo>
                  <a:cubicBezTo>
                    <a:pt x="883941" y="0"/>
                    <a:pt x="915810" y="13200"/>
                    <a:pt x="939307" y="36697"/>
                  </a:cubicBezTo>
                  <a:cubicBezTo>
                    <a:pt x="962804" y="60194"/>
                    <a:pt x="976004" y="92063"/>
                    <a:pt x="976004" y="125293"/>
                  </a:cubicBezTo>
                  <a:lnTo>
                    <a:pt x="976004" y="125293"/>
                  </a:lnTo>
                  <a:cubicBezTo>
                    <a:pt x="976004" y="158522"/>
                    <a:pt x="962804" y="190391"/>
                    <a:pt x="939307" y="213888"/>
                  </a:cubicBezTo>
                  <a:cubicBezTo>
                    <a:pt x="915810" y="237385"/>
                    <a:pt x="883941" y="250585"/>
                    <a:pt x="850712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76004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Rollba</a:t>
              </a:r>
              <a:r>
                <a:rPr lang="en-US" b="true" sz="2486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ck Plan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4474676"/>
            <a:ext cx="5663632" cy="44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713" indent="-212357" lvl="1">
              <a:lnSpc>
                <a:spcPts val="2754"/>
              </a:lnSpc>
              <a:buFont typeface="Arial"/>
              <a:buChar char="•"/>
            </a:pPr>
            <a:r>
              <a:rPr lang="en-US" sz="1967" spc="-3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Unit test Lambda Function:</a:t>
            </a:r>
          </a:p>
          <a:p>
            <a:pPr algn="just">
              <a:lnSpc>
                <a:spcPts val="2754"/>
              </a:lnSpc>
              <a:spcBef>
                <a:spcPct val="0"/>
              </a:spcBef>
            </a:pPr>
            <a:r>
              <a:rPr lang="en-US" sz="1967" spc="-3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Test trực tiếp trên </a:t>
            </a:r>
            <a:r>
              <a:rPr lang="en-US" sz="1967" spc="-3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AWS</a:t>
            </a: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Lambda Console với sample event ➔ Đảm bảo function xử lý event, gọi SES API thành công.</a:t>
            </a:r>
          </a:p>
          <a:p>
            <a:pPr algn="just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Integration test API Gateway + Lambda:</a:t>
            </a:r>
          </a:p>
          <a:p>
            <a:pPr algn="just">
              <a:lnSpc>
                <a:spcPts val="2754"/>
              </a:lnSpc>
              <a:spcBef>
                <a:spcPct val="0"/>
              </a:spcBef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Gọi API Gateway endpoint (POST /sendemail) ➔ Lambda function được trigger ➔ SES gửi email thành công.</a:t>
            </a:r>
          </a:p>
          <a:p>
            <a:pPr algn="just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End-to-end test Frontend:</a:t>
            </a:r>
          </a:p>
          <a:p>
            <a:pPr algn="just">
              <a:lnSpc>
                <a:spcPts val="2754"/>
              </a:lnSpc>
              <a:spcBef>
                <a:spcPct val="0"/>
              </a:spcBef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Mở file web.html ➔ Điền To, Subject, Body ➔ Click Send ➔ Kiểm tra email đến hộp thư người nhận ➔ Xác minh thông tin đúng.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882573" y="4474676"/>
            <a:ext cx="4787757" cy="377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riển khai thủ công:</a:t>
            </a:r>
          </a:p>
          <a:p>
            <a:pPr algn="ctr">
              <a:lnSpc>
                <a:spcPts val="2754"/>
              </a:lnSpc>
              <a:spcBef>
                <a:spcPct val="0"/>
              </a:spcBef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Sử dụng AWS Management Console cho từng dịch vụ: SES, Lambda, API Gateway.</a:t>
            </a:r>
          </a:p>
          <a:p>
            <a:pPr algn="ctr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Triển khai tự động (Future plan):</a:t>
            </a:r>
          </a:p>
          <a:p>
            <a:pPr algn="ctr">
              <a:lnSpc>
                <a:spcPts val="2754"/>
              </a:lnSpc>
              <a:spcBef>
                <a:spcPct val="0"/>
              </a:spcBef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Sử dụng Infrastructure as Code (CloudFormation hoặc Terraform) để:</a:t>
            </a:r>
          </a:p>
          <a:p>
            <a:pPr algn="ctr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Dễ replicate môi trường</a:t>
            </a:r>
          </a:p>
          <a:p>
            <a:pPr algn="ctr">
              <a:lnSpc>
                <a:spcPts val="2754"/>
              </a:lnSpc>
              <a:spcBef>
                <a:spcPct val="0"/>
              </a:spcBef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Đảm bảo tính nhất quán khi deploy lên các region khác.</a:t>
            </a:r>
          </a:p>
          <a:p>
            <a:pPr algn="ctr" marL="0" indent="0" lvl="0">
              <a:lnSpc>
                <a:spcPts val="2754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860830" y="4474676"/>
            <a:ext cx="4871274" cy="275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24713" indent="-212357" lvl="1">
              <a:lnSpc>
                <a:spcPts val="2754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3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Nếu d</a:t>
            </a: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eploy lỗi hoặc có bug, có thể:</a:t>
            </a:r>
          </a:p>
          <a:p>
            <a:pPr algn="ctr" marL="849426" indent="-283142" lvl="2">
              <a:lnSpc>
                <a:spcPts val="2754"/>
              </a:lnSpc>
              <a:spcBef>
                <a:spcPct val="0"/>
              </a:spcBef>
              <a:buFont typeface="Arial"/>
              <a:buChar char="⚬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Rollback Lambda function version</a:t>
            </a:r>
          </a:p>
          <a:p>
            <a:pPr algn="ctr" marL="849426" indent="-283142" lvl="2">
              <a:lnSpc>
                <a:spcPts val="2754"/>
              </a:lnSpc>
              <a:spcBef>
                <a:spcPct val="0"/>
              </a:spcBef>
              <a:buFont typeface="Arial"/>
              <a:buChar char="⚬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Xó</a:t>
            </a: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 API Gateway deployment stage</a:t>
            </a:r>
          </a:p>
          <a:p>
            <a:pPr algn="ctr" marL="849426" indent="-283142" lvl="2">
              <a:lnSpc>
                <a:spcPts val="2754"/>
              </a:lnSpc>
              <a:spcBef>
                <a:spcPct val="0"/>
              </a:spcBef>
              <a:buFont typeface="Arial"/>
              <a:buChar char="⚬"/>
            </a:pPr>
            <a:r>
              <a:rPr lang="en-US" sz="1967" spc="-39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Revert SES verified identity</a:t>
            </a:r>
          </a:p>
          <a:p>
            <a:pPr algn="ctr">
              <a:lnSpc>
                <a:spcPts val="275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7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8725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802553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79367" y="0"/>
            <a:ext cx="3174258" cy="4167141"/>
          </a:xfrm>
          <a:custGeom>
            <a:avLst/>
            <a:gdLst/>
            <a:ahLst/>
            <a:cxnLst/>
            <a:rect r="r" b="b" t="t" l="l"/>
            <a:pathLst>
              <a:path h="4167141" w="3174258">
                <a:moveTo>
                  <a:pt x="0" y="0"/>
                </a:moveTo>
                <a:lnTo>
                  <a:pt x="3174258" y="0"/>
                </a:lnTo>
                <a:lnTo>
                  <a:pt x="3174258" y="4167141"/>
                </a:lnTo>
                <a:lnTo>
                  <a:pt x="0" y="4167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3525" b="-4608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84399" y="0"/>
            <a:ext cx="8203601" cy="3250677"/>
          </a:xfrm>
          <a:custGeom>
            <a:avLst/>
            <a:gdLst/>
            <a:ahLst/>
            <a:cxnLst/>
            <a:rect r="r" b="b" t="t" l="l"/>
            <a:pathLst>
              <a:path h="3250677" w="8203601">
                <a:moveTo>
                  <a:pt x="0" y="0"/>
                </a:moveTo>
                <a:lnTo>
                  <a:pt x="8203601" y="0"/>
                </a:lnTo>
                <a:lnTo>
                  <a:pt x="8203601" y="3250677"/>
                </a:lnTo>
                <a:lnTo>
                  <a:pt x="0" y="3250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81368" y="4430464"/>
            <a:ext cx="10706632" cy="5808896"/>
          </a:xfrm>
          <a:custGeom>
            <a:avLst/>
            <a:gdLst/>
            <a:ahLst/>
            <a:cxnLst/>
            <a:rect r="r" b="b" t="t" l="l"/>
            <a:pathLst>
              <a:path h="5808896" w="10706632">
                <a:moveTo>
                  <a:pt x="0" y="0"/>
                </a:moveTo>
                <a:lnTo>
                  <a:pt x="10706632" y="0"/>
                </a:lnTo>
                <a:lnTo>
                  <a:pt x="10706632" y="5808896"/>
                </a:lnTo>
                <a:lnTo>
                  <a:pt x="0" y="5808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53" t="0" r="-345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3420" y="4278064"/>
            <a:ext cx="6254116" cy="195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Demo Frontend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22448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00584" y="147849"/>
            <a:ext cx="946777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Ước tính chi phí &amp; ROI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28002" t="0" r="-5146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78111" y="7472046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57959" y="1782102"/>
            <a:ext cx="17636284" cy="5689945"/>
            <a:chOff x="0" y="0"/>
            <a:chExt cx="4644947" cy="14985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4947" cy="1498586"/>
            </a:xfrm>
            <a:custGeom>
              <a:avLst/>
              <a:gdLst/>
              <a:ahLst/>
              <a:cxnLst/>
              <a:rect r="r" b="b" t="t" l="l"/>
              <a:pathLst>
                <a:path h="1498586" w="4644947">
                  <a:moveTo>
                    <a:pt x="6146" y="0"/>
                  </a:moveTo>
                  <a:lnTo>
                    <a:pt x="4638801" y="0"/>
                  </a:lnTo>
                  <a:cubicBezTo>
                    <a:pt x="4640431" y="0"/>
                    <a:pt x="4641995" y="647"/>
                    <a:pt x="4643147" y="1800"/>
                  </a:cubicBezTo>
                  <a:cubicBezTo>
                    <a:pt x="4644299" y="2953"/>
                    <a:pt x="4644947" y="4516"/>
                    <a:pt x="4644947" y="6146"/>
                  </a:cubicBezTo>
                  <a:lnTo>
                    <a:pt x="4644947" y="1492441"/>
                  </a:lnTo>
                  <a:cubicBezTo>
                    <a:pt x="4644947" y="1495835"/>
                    <a:pt x="4642196" y="1498586"/>
                    <a:pt x="4638801" y="1498586"/>
                  </a:cubicBezTo>
                  <a:lnTo>
                    <a:pt x="6146" y="1498586"/>
                  </a:lnTo>
                  <a:cubicBezTo>
                    <a:pt x="2752" y="1498586"/>
                    <a:pt x="0" y="1495835"/>
                    <a:pt x="0" y="1492441"/>
                  </a:cubicBezTo>
                  <a:lnTo>
                    <a:pt x="0" y="6146"/>
                  </a:lnTo>
                  <a:cubicBezTo>
                    <a:pt x="0" y="2752"/>
                    <a:pt x="2752" y="0"/>
                    <a:pt x="6146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644947" cy="1555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890113" y="4207934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858012" y="5301056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858012" y="6323539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890113" y="3047633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006533" y="2312624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Dịch vụ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0389" y="2317509"/>
            <a:ext cx="2728239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Chi phí/ tháng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01189" y="2308306"/>
            <a:ext cx="1423993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Ghi chú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39792" y="3319720"/>
            <a:ext cx="94894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68384" y="4484159"/>
            <a:ext cx="136837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Lambda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533" y="5527674"/>
            <a:ext cx="159827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Gateway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533" y="6695014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Cloudwatch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0389" y="3324605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~$0.10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07435" y="4489043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&lt;$0.20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13344" y="5516596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~$3.50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60389" y="6699899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48172" y="3243341"/>
            <a:ext cx="3769216" cy="135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1000 email đầu tiên</a:t>
            </a:r>
          </a:p>
          <a:p>
            <a:pPr algn="l">
              <a:lnSpc>
                <a:spcPts val="3543"/>
              </a:lnSpc>
            </a:pPr>
          </a:p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2848172" y="4479841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Free tier dưới 1 triệu req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48172" y="5507394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 triệu calls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48172" y="6690697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Logs + alarm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00584" y="1211355"/>
            <a:ext cx="451977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Tổng cộng: ~5 USD/tháng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58012" y="7738746"/>
            <a:ext cx="7875646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ROI (Return on Investment):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Tiết kiệm hơn SMTP server hoặc SendGrid (~15-30 USD/tháng)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Không tốn công quản lý hạ tầng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Triển khai nhanh ➔ Time-to-market ngắn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97" y="9150218"/>
            <a:ext cx="18239303" cy="1136782"/>
            <a:chOff x="0" y="0"/>
            <a:chExt cx="4803767" cy="299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03767" cy="299399"/>
            </a:xfrm>
            <a:custGeom>
              <a:avLst/>
              <a:gdLst/>
              <a:ahLst/>
              <a:cxnLst/>
              <a:rect r="r" b="b" t="t" l="l"/>
              <a:pathLst>
                <a:path h="299399" w="4803767">
                  <a:moveTo>
                    <a:pt x="0" y="0"/>
                  </a:moveTo>
                  <a:lnTo>
                    <a:pt x="4803767" y="0"/>
                  </a:lnTo>
                  <a:lnTo>
                    <a:pt x="4803767" y="299399"/>
                  </a:lnTo>
                  <a:lnTo>
                    <a:pt x="0" y="299399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03767" cy="356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697" y="0"/>
            <a:ext cx="18288000" cy="9258300"/>
          </a:xfrm>
          <a:custGeom>
            <a:avLst/>
            <a:gdLst/>
            <a:ahLst/>
            <a:cxnLst/>
            <a:rect r="r" b="b" t="t" l="l"/>
            <a:pathLst>
              <a:path h="9258300" w="182880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167" r="0" b="-143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4555" y="3212624"/>
            <a:ext cx="17636284" cy="5689945"/>
            <a:chOff x="0" y="0"/>
            <a:chExt cx="4644947" cy="1498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4947" cy="1498586"/>
            </a:xfrm>
            <a:custGeom>
              <a:avLst/>
              <a:gdLst/>
              <a:ahLst/>
              <a:cxnLst/>
              <a:rect r="r" b="b" t="t" l="l"/>
              <a:pathLst>
                <a:path h="1498586" w="4644947">
                  <a:moveTo>
                    <a:pt x="6146" y="0"/>
                  </a:moveTo>
                  <a:lnTo>
                    <a:pt x="4638801" y="0"/>
                  </a:lnTo>
                  <a:cubicBezTo>
                    <a:pt x="4640431" y="0"/>
                    <a:pt x="4641995" y="647"/>
                    <a:pt x="4643147" y="1800"/>
                  </a:cubicBezTo>
                  <a:cubicBezTo>
                    <a:pt x="4644299" y="2953"/>
                    <a:pt x="4644947" y="4516"/>
                    <a:pt x="4644947" y="6146"/>
                  </a:cubicBezTo>
                  <a:lnTo>
                    <a:pt x="4644947" y="1492441"/>
                  </a:lnTo>
                  <a:cubicBezTo>
                    <a:pt x="4644947" y="1495835"/>
                    <a:pt x="4642196" y="1498586"/>
                    <a:pt x="4638801" y="1498586"/>
                  </a:cubicBezTo>
                  <a:lnTo>
                    <a:pt x="6146" y="1498586"/>
                  </a:lnTo>
                  <a:cubicBezTo>
                    <a:pt x="2752" y="1498586"/>
                    <a:pt x="0" y="1495835"/>
                    <a:pt x="0" y="1492441"/>
                  </a:cubicBezTo>
                  <a:lnTo>
                    <a:pt x="0" y="6146"/>
                  </a:lnTo>
                  <a:cubicBezTo>
                    <a:pt x="0" y="2752"/>
                    <a:pt x="2752" y="0"/>
                    <a:pt x="6146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644947" cy="1555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906709" y="5638456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874609" y="6731578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874609" y="7754061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906709" y="4478155"/>
            <a:ext cx="145719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188217" y="1828192"/>
            <a:ext cx="18476217" cy="1028700"/>
            <a:chOff x="0" y="0"/>
            <a:chExt cx="4866164" cy="2709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866164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69982" y="1716804"/>
            <a:ext cx="7359819" cy="105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5"/>
              </a:lnSpc>
              <a:spcBef>
                <a:spcPct val="0"/>
              </a:spcBef>
            </a:pPr>
            <a:r>
              <a:rPr lang="en-US" b="true" sz="5854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Rủi ro &amp; Giải pháp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23130" y="3656617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Dịch vụ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76986" y="3748030"/>
            <a:ext cx="2728239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Chi phí/ tháng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7785" y="3738828"/>
            <a:ext cx="1423993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Ghi chú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6389" y="4750242"/>
            <a:ext cx="94894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84980" y="5914681"/>
            <a:ext cx="1368375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Lambda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3130" y="6958196"/>
            <a:ext cx="159827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Gateway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23130" y="8125536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Cloudwatch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76986" y="4755127"/>
            <a:ext cx="1964408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~$0.10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24031" y="5919565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&lt;$0.20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29941" y="6947118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~$3.50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76986" y="8130421"/>
            <a:ext cx="2781194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~$1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64768" y="4673862"/>
            <a:ext cx="3769216" cy="135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1000 email đầu tiên</a:t>
            </a:r>
          </a:p>
          <a:p>
            <a:pPr algn="l">
              <a:lnSpc>
                <a:spcPts val="3543"/>
              </a:lnSpc>
            </a:pPr>
          </a:p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864768" y="5910363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Free tier dưới 1 triệu req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4768" y="6937915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 triệu calls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64768" y="8121218"/>
            <a:ext cx="3769216" cy="45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3"/>
              </a:lnSpc>
              <a:spcBef>
                <a:spcPct val="0"/>
              </a:spcBef>
            </a:pPr>
            <a:r>
              <a:rPr lang="en-US" sz="2530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Logs + alarm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9290619"/>
            <a:ext cx="1590295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Kết luận: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Luôn k</a:t>
            </a:r>
            <a:r>
              <a:rPr lang="en-US" b="true" sz="23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iểm tra kỹ IAM permissions, CORS policy và giám sát usage để đảm bảo hệ thống an toàn, tiết kiệm.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2273" y="-8767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t="0" r="-19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852968"/>
            <a:ext cx="17058461" cy="5088907"/>
            <a:chOff x="0" y="0"/>
            <a:chExt cx="4492763" cy="1340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2763" cy="1340288"/>
            </a:xfrm>
            <a:custGeom>
              <a:avLst/>
              <a:gdLst/>
              <a:ahLst/>
              <a:cxnLst/>
              <a:rect r="r" b="b" t="t" l="l"/>
              <a:pathLst>
                <a:path h="1340288" w="4492763">
                  <a:moveTo>
                    <a:pt x="7715" y="0"/>
                  </a:moveTo>
                  <a:lnTo>
                    <a:pt x="4485048" y="0"/>
                  </a:lnTo>
                  <a:cubicBezTo>
                    <a:pt x="4487094" y="0"/>
                    <a:pt x="4489057" y="813"/>
                    <a:pt x="4490503" y="2260"/>
                  </a:cubicBezTo>
                  <a:cubicBezTo>
                    <a:pt x="4491951" y="3707"/>
                    <a:pt x="4492763" y="5669"/>
                    <a:pt x="4492763" y="7715"/>
                  </a:cubicBezTo>
                  <a:lnTo>
                    <a:pt x="4492763" y="1332573"/>
                  </a:lnTo>
                  <a:cubicBezTo>
                    <a:pt x="4492763" y="1336834"/>
                    <a:pt x="4489309" y="1340288"/>
                    <a:pt x="4485048" y="1340288"/>
                  </a:cubicBezTo>
                  <a:lnTo>
                    <a:pt x="7715" y="1340288"/>
                  </a:lnTo>
                  <a:cubicBezTo>
                    <a:pt x="5669" y="1340288"/>
                    <a:pt x="3707" y="1339475"/>
                    <a:pt x="2260" y="1338029"/>
                  </a:cubicBezTo>
                  <a:cubicBezTo>
                    <a:pt x="813" y="1336582"/>
                    <a:pt x="0" y="1334619"/>
                    <a:pt x="0" y="1332573"/>
                  </a:cubicBezTo>
                  <a:lnTo>
                    <a:pt x="0" y="7715"/>
                  </a:lnTo>
                  <a:cubicBezTo>
                    <a:pt x="0" y="5669"/>
                    <a:pt x="813" y="3707"/>
                    <a:pt x="2260" y="2260"/>
                  </a:cubicBezTo>
                  <a:cubicBezTo>
                    <a:pt x="3707" y="813"/>
                    <a:pt x="5669" y="0"/>
                    <a:pt x="7715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92763" cy="139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776651" y="4181637"/>
            <a:ext cx="0" cy="441034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264130"/>
            <a:ext cx="924177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Kết quả kỳ vọng &amp; Giá trị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2768" y="5164260"/>
            <a:ext cx="7647791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Giải pháp s</a:t>
            </a: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erverless, tiết kiệm chi phí, phù hợp mọi quy mô doanh nghiệp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Nâng cao kỹ năng AWS Lambda, SES, API Gateway ➔ chuẩn bị tốt cho nghề nghiệp Cloud &amp; Backend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Dễ dàng mở rộng cho các use-case khác: gửi SMS (SNS), lưu dữ liệu (DynamoDB), trigger workflow (Step Functions)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660894" y="4309509"/>
            <a:ext cx="2777115" cy="48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  <a:spcBef>
                <a:spcPct val="0"/>
              </a:spcBef>
            </a:pPr>
            <a:r>
              <a:rPr lang="en-US" sz="268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Kết quả kỳ vọng: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25153" y="4309509"/>
            <a:ext cx="2948565" cy="48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  <a:spcBef>
                <a:spcPct val="0"/>
              </a:spcBef>
            </a:pPr>
            <a:r>
              <a:rPr lang="en-US" sz="268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Giá trị mang lại: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5996" y="5164260"/>
            <a:ext cx="7597075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Tỷ lệ gửi </a:t>
            </a: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email thành công (deliverability) &gt;99%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Thời gian phản hồi API (latency) &lt;1s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 strike="noStrike" u="none">
                <a:solidFill>
                  <a:srgbClr val="5B98BA"/>
                </a:solidFill>
                <a:latin typeface="Poppins"/>
                <a:ea typeface="Poppins"/>
                <a:cs typeface="Poppins"/>
                <a:sym typeface="Poppins"/>
              </a:rPr>
              <a:t>Demo hoạt động end-to-end frontend ➔ email recipient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99601"/>
            <a:ext cx="10609258" cy="357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50"/>
              </a:lnSpc>
              <a:spcBef>
                <a:spcPct val="0"/>
              </a:spcBef>
            </a:pPr>
            <a:r>
              <a:rPr lang="en-US" b="true" sz="9964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FOR WATCHING!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98912" y="0"/>
            <a:ext cx="5889088" cy="756959"/>
            <a:chOff x="0" y="0"/>
            <a:chExt cx="1551036" cy="1993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51036" cy="256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98912" y="9530041"/>
            <a:ext cx="5889088" cy="756959"/>
            <a:chOff x="0" y="0"/>
            <a:chExt cx="1551036" cy="199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51036" cy="256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44385" y="1368187"/>
            <a:ext cx="5889088" cy="7550626"/>
          </a:xfrm>
          <a:custGeom>
            <a:avLst/>
            <a:gdLst/>
            <a:ahLst/>
            <a:cxnLst/>
            <a:rect r="r" b="b" t="t" l="l"/>
            <a:pathLst>
              <a:path h="7550626" w="5889088">
                <a:moveTo>
                  <a:pt x="0" y="0"/>
                </a:moveTo>
                <a:lnTo>
                  <a:pt x="5889088" y="0"/>
                </a:lnTo>
                <a:lnTo>
                  <a:pt x="5889088" y="7550626"/>
                </a:lnTo>
                <a:lnTo>
                  <a:pt x="0" y="755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96" t="0" r="-947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DAGsfhhLXvA</dc:identifier>
  <dcterms:modified xsi:type="dcterms:W3CDTF">2011-08-01T06:04:30Z</dcterms:modified>
  <cp:revision>1</cp:revision>
  <dc:title>By: Nguyễn Quốc Cường</dc:title>
</cp:coreProperties>
</file>